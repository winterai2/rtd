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9"/>
  </p:notes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notesMaster" Target="notesMasters/notesMaster1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356975-82F6-4647-8CCD-C5ABC2C0D4EC}" type="datetimeFigureOut">
              <a:rPr lang="ru-RU" smtClean="0"/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793F2BF-6765-496D-AD93-59FA2C5D1E6C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66CD4F-A8A0-40AA-AC0F-9B4460087DA5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C2021D-9303-4B71-8DA7-9AEE7D1E7C5C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B7168-E0CB-4B91-8A43-9A2F9F8B17D3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E21BC3-4BA9-4055-9453-FF0F74453780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F81B23-9757-4945-B22B-523AD0012397}" type="datetime1">
              <a:rPr lang="ru-RU" smtClean="0"/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0ABA0F-8C0B-4D90-94FB-A28C47605EF3}" type="datetime1">
              <a:rPr lang="ru-RU" smtClean="0"/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A06D89-AB9B-47E5-8494-FA0FB4E96B6A}" type="datetime1">
              <a:rPr lang="ru-RU" smtClean="0"/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FC8E1D-6CFB-4A67-9550-989118DB92CA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26043-7428-444C-B4D9-CED7FE11169B}" type="datetime1">
              <a:rPr lang="ru-RU" smtClean="0"/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4E62CC-A5D4-4591-9D32-3C6117234130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8E4238-538B-472D-BEEC-9D41631F037C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  <a:endParaRPr lang="ru-RU"/>
          </a:p>
          <a:p>
            <a:pPr lvl="1"/>
            <a:r>
              <a:rPr lang="ru-RU"/>
              <a:t>Второй уровень</a:t>
            </a:r>
            <a:endParaRPr lang="ru-RU"/>
          </a:p>
          <a:p>
            <a:pPr lvl="2"/>
            <a:r>
              <a:rPr lang="ru-RU"/>
              <a:t>Третий уровень</a:t>
            </a:r>
            <a:endParaRPr lang="ru-RU"/>
          </a:p>
          <a:p>
            <a:pPr lvl="3"/>
            <a:r>
              <a:rPr lang="ru-RU"/>
              <a:t>Четвертый уровень</a:t>
            </a:r>
            <a:endParaRPr lang="ru-RU"/>
          </a:p>
          <a:p>
            <a:pPr lvl="4"/>
            <a:r>
              <a:rPr lang="ru-RU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DF2046-A1B5-4D50-A95F-A223FD2B216E}" type="datetime1">
              <a:rPr lang="ru-RU" smtClean="0"/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urait.ru/book/processualnye-sroki-v-ugolovnom-sudoproizvodstve-543998.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hyperlink" Target="https://e.lanbook.com/book/51933" TargetMode="External"/><Relationship Id="rId1" Type="http://schemas.openxmlformats.org/officeDocument/2006/relationships/hyperlink" Target="https://www.consultant.ru/document/cons_doc_LAW_190041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hyperlink" Target="https://habr.com/ru/companies/otus/articles/762548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81458"/>
            <a:ext cx="9144000" cy="6338612"/>
          </a:xfrm>
        </p:spPr>
        <p:txBody>
          <a:bodyPr anchor="ctr">
            <a:normAutofit/>
          </a:bodyPr>
          <a:lstStyle/>
          <a:p>
            <a:pPr>
              <a:spcBef>
                <a:spcPts val="535"/>
              </a:spcBef>
              <a:tabLst>
                <a:tab pos="6776085" algn="l"/>
              </a:tabLst>
            </a:pP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ПРАКТИЧЕСКАЯ РАБОТА № 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 </a:t>
            </a:r>
            <a:r>
              <a:rPr lang="en-US" alt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4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Факультет</a:t>
            </a:r>
            <a:r>
              <a:rPr lang="en-US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Информационных технологий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Дисциплина: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Разработка технической документации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Тема: </a:t>
            </a: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Библиографический список</a:t>
            </a:r>
            <a:b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Выполнил(а):</a:t>
            </a:r>
            <a:r>
              <a:rPr lang="ru-RU" sz="2800" b="1" spc="-6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студент(ка)</a:t>
            </a:r>
            <a:r>
              <a:rPr lang="ru-RU" sz="2800" b="1" spc="-4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группы</a:t>
            </a:r>
            <a:r>
              <a:rPr lang="ru-RU" sz="2800" b="1" spc="-5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241-</a:t>
            </a:r>
            <a:r>
              <a:rPr lang="ru-RU" sz="2800" b="1" spc="-25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336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 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Ткаченко Константин Михайлович</a:t>
            </a:r>
            <a:b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</a:br>
            <a:r>
              <a:rPr lang="ru-RU" sz="2800" b="1" u="sng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endParaRPr lang="ru-RU" sz="2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оформления одночастотного библиографического описания</a:t>
            </a:r>
            <a:endParaRPr lang="ru-RU" sz="72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6895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Стельмах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Ю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Процессуальные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сроки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уголовном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судопроизводстве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учебное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пособие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для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вузов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Ю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Стельмах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—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Москва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Юрайт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2020. — 121 </a:t>
            </a:r>
            <a:r>
              <a:rPr lang="en-US" altLang="en-US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—URL: - 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 tooltip="" action="ppaction://hlinkfile"/>
              </a:rPr>
              <a:t>https://urait.ru/book/processualnye-sroki-v-ugolovnom-sudoproizvodstve-543998</a:t>
            </a:r>
            <a:r>
              <a:rPr lang="en-US" altLang="ru-RU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altLang="ru-RU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32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оформления библиографического описания</a:t>
            </a:r>
            <a:endParaRPr lang="ru-RU" sz="66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1200"/>
              </a:spcAft>
            </a:pPr>
            <a:r>
              <a:rPr lang="en-US" altLang="en-US" dirty="0"/>
              <a:t>Указ</a:t>
            </a:r>
            <a:r>
              <a:rPr lang="en-US" altLang="ru-RU" dirty="0"/>
              <a:t> </a:t>
            </a:r>
            <a:r>
              <a:rPr lang="en-US" altLang="en-US" dirty="0"/>
              <a:t>Президента</a:t>
            </a:r>
            <a:r>
              <a:rPr lang="en-US" altLang="ru-RU" dirty="0"/>
              <a:t> </a:t>
            </a:r>
            <a:r>
              <a:rPr lang="en-US" altLang="en-US" dirty="0"/>
              <a:t>РФ</a:t>
            </a:r>
            <a:r>
              <a:rPr lang="en-US" altLang="ru-RU" dirty="0"/>
              <a:t> </a:t>
            </a:r>
            <a:r>
              <a:rPr lang="en-US" altLang="en-US" dirty="0"/>
              <a:t>от</a:t>
            </a:r>
            <a:r>
              <a:rPr lang="en-US" altLang="ru-RU" dirty="0"/>
              <a:t> 07.12.2015 </a:t>
            </a:r>
            <a:r>
              <a:rPr lang="" altLang="en-US" dirty="0"/>
              <a:t>№</a:t>
            </a:r>
            <a:r>
              <a:rPr lang="en-US" altLang="ru-RU" dirty="0"/>
              <a:t> 607 (</a:t>
            </a:r>
            <a:r>
              <a:rPr lang="en-US" altLang="en-US" dirty="0"/>
              <a:t>ред</a:t>
            </a:r>
            <a:r>
              <a:rPr lang="en-US" altLang="ru-RU" dirty="0"/>
              <a:t>. </a:t>
            </a:r>
            <a:r>
              <a:rPr lang="en-US" altLang="en-US" dirty="0"/>
              <a:t>от</a:t>
            </a:r>
            <a:r>
              <a:rPr lang="en-US" altLang="ru-RU" dirty="0"/>
              <a:t> 18.11.2019). // </a:t>
            </a:r>
            <a:r>
              <a:rPr lang="en-US" altLang="en-US" dirty="0"/>
              <a:t>СПС</a:t>
            </a:r>
            <a:r>
              <a:rPr lang="en-US" altLang="ru-RU" dirty="0"/>
              <a:t> </a:t>
            </a:r>
            <a:r>
              <a:rPr lang="en-US" altLang="en-US" dirty="0"/>
              <a:t>КонсультантПлюс</a:t>
            </a:r>
            <a:r>
              <a:rPr lang="en-US" altLang="ru-RU" dirty="0"/>
              <a:t>. – URL: </a:t>
            </a:r>
            <a:r>
              <a:rPr lang="en-US" altLang="ru-RU" dirty="0">
                <a:hlinkClick r:id="rId1" tooltip="" action="ppaction://hlinkfile"/>
              </a:rPr>
              <a:t>https://www.consultant.ru/document/cons_doc_LAW_190041/</a:t>
            </a:r>
            <a:r>
              <a:rPr lang="en-US" altLang="ru-RU" dirty="0"/>
              <a:t>(</a:t>
            </a:r>
            <a:r>
              <a:rPr lang="en-US" altLang="en-US" dirty="0"/>
              <a:t>дата</a:t>
            </a:r>
            <a:r>
              <a:rPr lang="en-US" altLang="ru-RU" dirty="0"/>
              <a:t> </a:t>
            </a:r>
            <a:r>
              <a:rPr lang="en-US" altLang="en-US" dirty="0"/>
              <a:t>обращения</a:t>
            </a:r>
            <a:r>
              <a:rPr lang="en-US" altLang="ru-RU" dirty="0"/>
              <a:t>: 28.09.2019).</a:t>
            </a:r>
            <a:endParaRPr lang="en-US" altLang="ru-RU" dirty="0"/>
          </a:p>
          <a:p>
            <a:pPr>
              <a:spcAft>
                <a:spcPts val="1200"/>
              </a:spcAft>
            </a:pPr>
            <a:r>
              <a:rPr lang="en-US" altLang="en-US" dirty="0"/>
              <a:t>Борзова</a:t>
            </a:r>
            <a:r>
              <a:rPr lang="en-US" altLang="ru-RU" dirty="0"/>
              <a:t>, </a:t>
            </a:r>
            <a:r>
              <a:rPr lang="en-US" altLang="en-US" dirty="0"/>
              <a:t>Л</a:t>
            </a:r>
            <a:r>
              <a:rPr lang="en-US" altLang="ru-RU" dirty="0"/>
              <a:t>. </a:t>
            </a:r>
            <a:r>
              <a:rPr lang="en-US" altLang="en-US" dirty="0"/>
              <a:t>Д</a:t>
            </a:r>
            <a:r>
              <a:rPr lang="en-US" altLang="ru-RU" dirty="0"/>
              <a:t>. </a:t>
            </a:r>
            <a:r>
              <a:rPr lang="en-US" altLang="en-US" dirty="0"/>
              <a:t>Основы</a:t>
            </a:r>
            <a:r>
              <a:rPr lang="en-US" altLang="ru-RU" dirty="0"/>
              <a:t> </a:t>
            </a:r>
            <a:r>
              <a:rPr lang="en-US" altLang="en-US" dirty="0"/>
              <a:t>общей</a:t>
            </a:r>
            <a:r>
              <a:rPr lang="en-US" altLang="ru-RU" dirty="0"/>
              <a:t> </a:t>
            </a:r>
            <a:r>
              <a:rPr lang="en-US" altLang="en-US" dirty="0"/>
              <a:t>химии</a:t>
            </a:r>
            <a:r>
              <a:rPr lang="en-US" altLang="ru-RU" dirty="0"/>
              <a:t>: </a:t>
            </a:r>
            <a:r>
              <a:rPr lang="en-US" altLang="en-US" dirty="0"/>
              <a:t>учебное</a:t>
            </a:r>
            <a:r>
              <a:rPr lang="en-US" altLang="ru-RU" dirty="0"/>
              <a:t> </a:t>
            </a:r>
            <a:r>
              <a:rPr lang="en-US" altLang="en-US" dirty="0"/>
              <a:t>пособие</a:t>
            </a:r>
            <a:r>
              <a:rPr lang="en-US" altLang="ru-RU" dirty="0"/>
              <a:t> / </a:t>
            </a:r>
            <a:r>
              <a:rPr lang="en-US" altLang="en-US" dirty="0"/>
              <a:t>Л</a:t>
            </a:r>
            <a:r>
              <a:rPr lang="en-US" altLang="ru-RU" dirty="0"/>
              <a:t>. </a:t>
            </a:r>
            <a:r>
              <a:rPr lang="en-US" altLang="en-US" dirty="0"/>
              <a:t>Д</a:t>
            </a:r>
            <a:r>
              <a:rPr lang="en-US" altLang="ru-RU" dirty="0"/>
              <a:t>. </a:t>
            </a:r>
            <a:r>
              <a:rPr lang="en-US" altLang="en-US" dirty="0"/>
              <a:t>Борзова</a:t>
            </a:r>
            <a:r>
              <a:rPr lang="en-US" altLang="ru-RU" dirty="0"/>
              <a:t>, </a:t>
            </a:r>
            <a:r>
              <a:rPr lang="en-US" altLang="en-US" dirty="0"/>
              <a:t>Н</a:t>
            </a:r>
            <a:r>
              <a:rPr lang="en-US" altLang="ru-RU" dirty="0"/>
              <a:t>. </a:t>
            </a:r>
            <a:r>
              <a:rPr lang="en-US" altLang="en-US" dirty="0"/>
              <a:t>Ю</a:t>
            </a:r>
            <a:r>
              <a:rPr lang="en-US" altLang="ru-RU" dirty="0"/>
              <a:t>. </a:t>
            </a:r>
            <a:r>
              <a:rPr lang="en-US" altLang="en-US" dirty="0"/>
              <a:t>Черникова</a:t>
            </a:r>
            <a:r>
              <a:rPr lang="en-US" altLang="ru-RU" dirty="0"/>
              <a:t>, </a:t>
            </a:r>
            <a:r>
              <a:rPr lang="en-US" altLang="en-US" dirty="0"/>
              <a:t>В</a:t>
            </a:r>
            <a:r>
              <a:rPr lang="en-US" altLang="ru-RU" dirty="0"/>
              <a:t>. </a:t>
            </a:r>
            <a:r>
              <a:rPr lang="en-US" altLang="en-US" dirty="0"/>
              <a:t>В</a:t>
            </a:r>
            <a:r>
              <a:rPr lang="en-US" altLang="ru-RU" dirty="0"/>
              <a:t>. </a:t>
            </a:r>
            <a:r>
              <a:rPr lang="en-US" altLang="en-US" dirty="0"/>
              <a:t>Якушев</a:t>
            </a:r>
            <a:r>
              <a:rPr lang="en-US" altLang="ru-RU" dirty="0"/>
              <a:t>. — </a:t>
            </a:r>
            <a:r>
              <a:rPr lang="en-US" altLang="en-US" dirty="0"/>
              <a:t>Санкт</a:t>
            </a:r>
            <a:r>
              <a:rPr lang="en-US" altLang="ru-RU" dirty="0"/>
              <a:t>-</a:t>
            </a:r>
            <a:r>
              <a:rPr lang="en-US" altLang="en-US" dirty="0"/>
              <a:t>Петербург</a:t>
            </a:r>
            <a:r>
              <a:rPr lang="en-US" altLang="ru-RU" dirty="0"/>
              <a:t> : </a:t>
            </a:r>
            <a:r>
              <a:rPr lang="en-US" altLang="en-US" dirty="0"/>
              <a:t>Лань</a:t>
            </a:r>
            <a:r>
              <a:rPr lang="en-US" altLang="ru-RU" dirty="0"/>
              <a:t>, 2014. — 480 </a:t>
            </a:r>
            <a:r>
              <a:rPr lang="en-US" altLang="en-US" dirty="0"/>
              <a:t>с</a:t>
            </a:r>
            <a:r>
              <a:rPr lang="en-US" altLang="ru-RU" dirty="0"/>
              <a:t>. — </a:t>
            </a:r>
            <a:r>
              <a:rPr lang="en-US" altLang="en-US" dirty="0"/>
              <a:t>Текст</a:t>
            </a:r>
            <a:r>
              <a:rPr lang="en-US" altLang="ru-RU" dirty="0"/>
              <a:t>: </a:t>
            </a:r>
            <a:r>
              <a:rPr lang="en-US" altLang="en-US" dirty="0"/>
              <a:t>электронный</a:t>
            </a:r>
            <a:r>
              <a:rPr lang="en-US" altLang="ru-RU" dirty="0"/>
              <a:t> // </a:t>
            </a:r>
            <a:r>
              <a:rPr lang="en-US" altLang="en-US" dirty="0"/>
              <a:t>Лань</a:t>
            </a:r>
            <a:r>
              <a:rPr lang="en-US" altLang="ru-RU" dirty="0"/>
              <a:t>: </a:t>
            </a:r>
            <a:r>
              <a:rPr lang="en-US" altLang="en-US" dirty="0"/>
              <a:t>электронно</a:t>
            </a:r>
            <a:r>
              <a:rPr lang="en-US" altLang="ru-RU" dirty="0"/>
              <a:t>-</a:t>
            </a:r>
            <a:r>
              <a:rPr lang="en-US" altLang="en-US" dirty="0"/>
              <a:t>библиотечная</a:t>
            </a:r>
            <a:r>
              <a:rPr lang="en-US" altLang="ru-RU" dirty="0"/>
              <a:t> </a:t>
            </a:r>
            <a:r>
              <a:rPr lang="en-US" altLang="en-US" dirty="0"/>
              <a:t>система</a:t>
            </a:r>
            <a:r>
              <a:rPr lang="en-US" altLang="ru-RU" dirty="0"/>
              <a:t>. — URL: </a:t>
            </a:r>
            <a:r>
              <a:rPr lang="en-US" altLang="ru-RU" dirty="0">
                <a:hlinkClick r:id="rId2" tooltip="" action="ppaction://hlinkfile"/>
              </a:rPr>
              <a:t>https://e.lanbook.com/book/51933</a:t>
            </a:r>
            <a:r>
              <a:rPr lang="en-US" altLang="ru-RU" dirty="0"/>
              <a:t>(</a:t>
            </a:r>
            <a:r>
              <a:rPr lang="en-US" altLang="en-US" dirty="0"/>
              <a:t>дата</a:t>
            </a:r>
            <a:r>
              <a:rPr lang="en-US" altLang="ru-RU" dirty="0"/>
              <a:t> </a:t>
            </a:r>
            <a:r>
              <a:rPr lang="en-US" altLang="en-US" dirty="0"/>
              <a:t>обращения</a:t>
            </a:r>
            <a:r>
              <a:rPr lang="en-US" altLang="ru-RU" dirty="0"/>
              <a:t>: 23.05.2024).</a:t>
            </a:r>
            <a:endParaRPr lang="en-US" altLang="ru-RU" dirty="0"/>
          </a:p>
          <a:p>
            <a:pPr marL="0" indent="0">
              <a:buNone/>
            </a:pPr>
            <a:endParaRPr lang="en-US" alt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МНОГОЧАСТНОЕ БИБЛИОГРАФИЧЕСКОЕ ОПИСАНИЕ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Голсуорси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Сага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Форсайтах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[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2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томах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.1: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Собственник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Последнее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лето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Форсайта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;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петле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Голсуорси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;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перевод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английского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Лорие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[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др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.]. –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Москва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Время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2017. – 734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</a:t>
            </a:r>
            <a:endParaRPr lang="en-US" alt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БИБЛИОГРАФИЧЕСКОЕ ОПИСАНИЕ СОСТАВНОЙ ЧАСТИ РЕСУРСА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fontAlgn="base">
              <a:spcBef>
                <a:spcPts val="1200"/>
              </a:spcBef>
            </a:pP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Сторожева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Выселение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из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общежитий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А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Сторожева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–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Текст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: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непосредственный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//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Жилищное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право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– 2009. – </a:t>
            </a:r>
            <a:r>
              <a:rPr lang="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№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3. – </a:t>
            </a:r>
            <a:r>
              <a:rPr lang="en-US" altLang="en-US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</a:t>
            </a:r>
            <a:r>
              <a:rPr lang="en-US" alt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. 48–70.</a:t>
            </a:r>
            <a:endParaRPr lang="en-US" altLang="ru-RU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Пример оформления источника электронного сетевого ресурса по программированию</a:t>
            </a:r>
            <a:endParaRPr lang="ru-RU" sz="5400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MaxRokatansky.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Основы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C++: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Указатели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Итераторы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,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перевод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оригинала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Sandor Dargo. C++ basics: Pointers vs iterators. –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Текст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электронный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//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Статья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на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сайте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Habr:[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сайт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] -2006- URL: 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hlinkClick r:id="rId1" tooltip="" action="ppaction://hlinkfile"/>
              </a:rPr>
              <a:t>https://habr.com/ru/companies/otus/articles/762548/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-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Дата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</a:t>
            </a:r>
            <a:r>
              <a:rPr lang="en-US" alt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публикации</a:t>
            </a:r>
            <a:r>
              <a:rPr lang="en-US" alt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: 21.09.2023.</a:t>
            </a:r>
            <a:endParaRPr lang="en-US" alt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8FD8F5-C47C-418D-BB8B-02F635002CBE}" type="slidenum">
              <a:rPr lang="ru-RU" smtClean="0"/>
            </a:fld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1752</Words>
  <Application>WPS Presentation</Application>
  <PresentationFormat>Широкоэкранный</PresentationFormat>
  <Paragraphs>34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SimSun</vt:lpstr>
      <vt:lpstr>Wingdings</vt:lpstr>
      <vt:lpstr>Times New Roman</vt:lpstr>
      <vt:lpstr>Cambria</vt:lpstr>
      <vt:lpstr>Microsoft YaHei</vt:lpstr>
      <vt:lpstr>Arial Unicode MS</vt:lpstr>
      <vt:lpstr>Calibri Light</vt:lpstr>
      <vt:lpstr>Calibri</vt:lpstr>
      <vt:lpstr>Тема Office</vt:lpstr>
      <vt:lpstr>ПРАКТИЧЕСКАЯ РАБОТА №   2  Факультет: Информационных технологий Дисциплина: Разработка технической документации  Тема: Библиографический список  Выполнил(а): студент(ка) группы 241-336   Долбышев Даниил Максимович  </vt:lpstr>
      <vt:lpstr>Пример оформления одночастотного библиографического описания</vt:lpstr>
      <vt:lpstr>Пример оформления библиографического описания</vt:lpstr>
      <vt:lpstr>МНОГОЧАСТНОЕ БИБЛИОГРАФИЧЕСКОЕ ОПИСАНИЕ</vt:lpstr>
      <vt:lpstr>БИБЛИОГРАФИЧЕСКОЕ ОПИСАНИЕ СОСТАВНОЙ ЧАСТИ РЕСУРСА</vt:lpstr>
      <vt:lpstr>Пример оформления источника электронного сетевого ресурса по программированию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ПРАКТИЧЕСКАЯ РАБОТА №   2  Дисциплина: Разработка технической документации  Тема: Библиографический список  Выполнил(а): студент(ка) группы 241-336   Долбышев Даниил Максимович  </dc:title>
  <dc:creator>даниил долбышев</dc:creator>
  <cp:lastModifiedBy>Константин Ткач�</cp:lastModifiedBy>
  <cp:revision>5</cp:revision>
  <dcterms:created xsi:type="dcterms:W3CDTF">2024-12-05T13:21:00Z</dcterms:created>
  <dcterms:modified xsi:type="dcterms:W3CDTF">2025-01-13T17:11:18Z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E62CD3DBDCC54B65B0EA15E2A55E3526_13</vt:lpwstr>
  </property>
  <property fmtid="{D5CDD505-2E9C-101B-9397-08002B2CF9AE}" pid="3" name="KSOProductBuildVer">
    <vt:lpwstr>1049-12.2.0.19805</vt:lpwstr>
  </property>
</Properties>
</file>